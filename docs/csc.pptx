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8"/>
  </p:normalViewPr>
  <p:slideViewPr>
    <p:cSldViewPr snapToGrid="0">
      <p:cViewPr varScale="1">
        <p:scale>
          <a:sx n="126" d="100"/>
          <a:sy n="126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CBC9E-9992-3861-50C8-A8CE064D3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6318C4-69DD-4BCE-EF53-FCB1FEE5E0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8C284-AC27-A3D8-07AF-EFB3E2EBA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5B7DF-2858-A840-BFB8-2DB7B4A3CB56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26985-D1F0-067A-E5B3-C261D7FAB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E49D0-1609-BCBF-5F08-B4DD122C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63EC2-31D0-FE4E-A995-00A79A089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63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E7812-6FF7-A37E-FEF7-93ED0BC5F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0D7D5-F940-1F0E-3235-45C196765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8BB81-6BBE-1205-AC58-E330FF60C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5B7DF-2858-A840-BFB8-2DB7B4A3CB56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89A57-308E-FC1F-98E4-F0DCB0102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88E09-E6D5-5514-D5ED-8DB45F42E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63EC2-31D0-FE4E-A995-00A79A089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35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E7CFD-9162-4266-1323-EA1D9EF4F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6F25C-B816-1DCF-F711-8F0AE2E45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7A2D4-E0F0-FF4B-37B2-08601447D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5B7DF-2858-A840-BFB8-2DB7B4A3CB56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88A96-858D-04E7-DCA7-7A9B6FB8E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23D66-2ECA-F618-B95C-846623C02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63EC2-31D0-FE4E-A995-00A79A089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50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6E9D5-D1B8-9FE0-8203-23433DC9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530C8-7EC1-223A-1C58-582490E78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BDF79-500A-5E63-3767-B62A73AA3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E9851-5EE8-6D19-5811-427E7BF45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5B7DF-2858-A840-BFB8-2DB7B4A3CB56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0036B-98F9-317F-7FFF-A38369FA1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20A5C-A0AD-EA84-5B96-C416907B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63EC2-31D0-FE4E-A995-00A79A089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887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B5BBD-B5C3-96B3-3712-C6AA44348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05C64-EE8D-D303-BF66-394D765E2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2A406B-FA4C-D794-398D-E876C3FE6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32C366-E6DF-23C1-F567-7F97CFCB6C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4E7EB3-B78E-4670-16A6-39C1F4B1C2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8B734D-5E96-13EF-8BA3-DE2CA72C8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5B7DF-2858-A840-BFB8-2DB7B4A3CB56}" type="datetimeFigureOut">
              <a:rPr lang="en-US" smtClean="0"/>
              <a:t>4/1/25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03CA80-7703-ED37-E6CF-AC182510F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5FD299-7B57-8B6E-E40B-6DD6F2DA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63EC2-31D0-FE4E-A995-00A79A089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9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4FA7A-9ED2-7BC4-1F0F-A87F95835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5DCF0A-A38D-EF63-0E49-461AE323B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5B7DF-2858-A840-BFB8-2DB7B4A3CB56}" type="datetimeFigureOut">
              <a:rPr lang="en-US" smtClean="0"/>
              <a:t>4/1/25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BE880C-3267-EF62-3256-02B5CB72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FAA307-977F-DCDE-EAB8-BA8E41088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63EC2-31D0-FE4E-A995-00A79A089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762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3EDA6-CDE2-327C-DD0E-5641E1A5A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5B7DF-2858-A840-BFB8-2DB7B4A3CB56}" type="datetimeFigureOut">
              <a:rPr lang="en-US" smtClean="0"/>
              <a:t>4/1/25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DAC8-3687-71D8-1FB0-AE33D8E9F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B93FE-7AE3-9024-710B-CC2FE72C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63EC2-31D0-FE4E-A995-00A79A089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223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43DA2-0020-3548-B79E-9282FF76E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6BF77-720D-D2E6-25DB-B12C887E5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DDC65-7D62-BFF0-3500-B13186AB0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2DC55-BED2-DA38-5891-888F775AA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5B7DF-2858-A840-BFB8-2DB7B4A3CB56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CAB68-0E37-0060-4A79-3BDF7F8E2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63100-6E38-7FD7-4EC5-756EC7726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63EC2-31D0-FE4E-A995-00A79A089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46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E063D-80D7-005D-FD4D-9CAFF78B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F3F70D-8F07-E27F-F437-08A835CA10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03B7A1-D39E-FD48-1E56-E14C9DB41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23A18A-DF1C-4E3A-C129-7202ED096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5B7DF-2858-A840-BFB8-2DB7B4A3CB56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4C9AF-7A44-6BA1-84A5-B053E8C9C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C7468-E344-E914-51CD-583E589F3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63EC2-31D0-FE4E-A995-00A79A089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307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9EDDA-560B-B292-ECC1-08004E533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6E16E-680D-A13F-835A-AE6BFDC86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14113-1819-546E-5BE1-2E16EE111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5B7DF-2858-A840-BFB8-2DB7B4A3CB56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F9B56-6817-9DE1-8BC4-8748EB374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9E188-7B36-AF4C-8159-71E723C2A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63EC2-31D0-FE4E-A995-00A79A089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34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7881FF-0FC7-E23E-1892-1BFD4F6B55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E01B4A-5D16-8108-A955-B40714BA3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C0244-0FED-F61B-4CA8-D44F4907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5B7DF-2858-A840-BFB8-2DB7B4A3CB56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3B502-DEAE-EA25-CBEF-5A4AAEEB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932C9-C0D2-67D7-FC66-DE1FF3D0A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63EC2-31D0-FE4E-A995-00A79A089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36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6F9307-255B-D8E4-6D59-8D6FC5259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7143C-6EE3-24A4-231B-068C111FB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01C94-2F32-688C-7F09-A1279208FC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55B7DF-2858-A840-BFB8-2DB7B4A3CB56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67E6B-69CE-B5A6-56D6-838FD5E44A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26947-6243-570D-55AE-E17997AEB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63EC2-31D0-FE4E-A995-00A79A089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80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9190E-5CF4-9770-ADAD-406A61073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CA15A-80D2-2F4B-B084-CE85783E0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l">
              <a:buNone/>
            </a:pPr>
            <a:r>
              <a:rPr lang="en-IN" b="0" i="0" dirty="0">
                <a:solidFill>
                  <a:srgbClr val="1D1C1D"/>
                </a:solidFill>
                <a:effectLst/>
                <a:latin typeface="Slack-Lato"/>
              </a:rPr>
              <a:t>Page 31</a:t>
            </a:r>
            <a:br>
              <a:rPr lang="en-IN" b="0" i="0" dirty="0">
                <a:solidFill>
                  <a:srgbClr val="1D1C1D"/>
                </a:solidFill>
                <a:effectLst/>
                <a:latin typeface="Slack-Lato"/>
              </a:rPr>
            </a:br>
            <a:endParaRPr lang="en-IN" b="0" i="0" dirty="0">
              <a:solidFill>
                <a:srgbClr val="1D1C1D"/>
              </a:solidFill>
              <a:effectLst/>
              <a:latin typeface="Slack-Lato"/>
            </a:endParaRP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1D1C1D"/>
                </a:solidFill>
                <a:effectLst/>
                <a:latin typeface="Slack-Lato"/>
              </a:rPr>
              <a:t>Percent </a:t>
            </a:r>
            <a:r>
              <a:rPr lang="en-IN" b="0" i="0" dirty="0" err="1">
                <a:solidFill>
                  <a:srgbClr val="1D1C1D"/>
                </a:solidFill>
                <a:effectLst/>
                <a:latin typeface="Slack-Lato"/>
              </a:rPr>
              <a:t>idio</a:t>
            </a:r>
            <a:r>
              <a:rPr lang="en-IN" b="0" i="0" dirty="0">
                <a:solidFill>
                  <a:srgbClr val="1D1C1D"/>
                </a:solidFill>
                <a:effectLst/>
                <a:latin typeface="Slack-Lato"/>
              </a:rPr>
              <a:t> for prior week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1D1C1D"/>
                </a:solidFill>
                <a:effectLst/>
                <a:latin typeface="Slack-Lato"/>
              </a:rPr>
              <a:t>Not there at weekly level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1D1C1D"/>
                </a:solidFill>
                <a:effectLst/>
                <a:latin typeface="Slack-Lato"/>
              </a:rPr>
              <a:t>Count of positions &lt;$x million on a daily basis for prior week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1D1C1D"/>
                </a:solidFill>
                <a:effectLst/>
                <a:latin typeface="Slack-Lato"/>
              </a:rPr>
              <a:t>Not there currently</a:t>
            </a:r>
          </a:p>
          <a:p>
            <a:pPr algn="l">
              <a:buNone/>
            </a:pPr>
            <a:r>
              <a:rPr lang="en-IN" b="0" i="0" dirty="0">
                <a:solidFill>
                  <a:srgbClr val="1D1C1D"/>
                </a:solidFill>
                <a:effectLst/>
                <a:latin typeface="Slack-Lato"/>
              </a:rPr>
              <a:t>Page 32</a:t>
            </a:r>
            <a:br>
              <a:rPr lang="en-IN" b="0" i="0" dirty="0">
                <a:solidFill>
                  <a:srgbClr val="1D1C1D"/>
                </a:solidFill>
                <a:effectLst/>
                <a:latin typeface="Slack-Lato"/>
              </a:rPr>
            </a:br>
            <a:endParaRPr lang="en-IN" b="0" i="0" dirty="0">
              <a:solidFill>
                <a:srgbClr val="1D1C1D"/>
              </a:solidFill>
              <a:effectLst/>
              <a:latin typeface="Slack-Lato"/>
            </a:endParaRP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1D1C1D"/>
                </a:solidFill>
                <a:effectLst/>
                <a:latin typeface="Slack-Lato"/>
              </a:rPr>
              <a:t>We have top 10 P&amp;L winners but not in the format they need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1D1C1D"/>
                </a:solidFill>
                <a:effectLst/>
                <a:latin typeface="Slack-Lato"/>
              </a:rPr>
              <a:t>Rest of the tables - none</a:t>
            </a:r>
          </a:p>
          <a:p>
            <a:pPr algn="l">
              <a:buNone/>
            </a:pPr>
            <a:r>
              <a:rPr lang="en-IN" b="0" i="0" dirty="0">
                <a:solidFill>
                  <a:srgbClr val="1D1C1D"/>
                </a:solidFill>
                <a:effectLst/>
                <a:latin typeface="Slack-Lato"/>
              </a:rPr>
              <a:t>Page 33</a:t>
            </a:r>
            <a:br>
              <a:rPr lang="en-IN" b="0" i="0" dirty="0">
                <a:solidFill>
                  <a:srgbClr val="1D1C1D"/>
                </a:solidFill>
                <a:effectLst/>
                <a:latin typeface="Slack-Lato"/>
              </a:rPr>
            </a:br>
            <a:endParaRPr lang="en-IN" b="0" i="0" dirty="0">
              <a:solidFill>
                <a:srgbClr val="1D1C1D"/>
              </a:solidFill>
              <a:effectLst/>
              <a:latin typeface="Slack-Lato"/>
            </a:endParaRP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1D1C1D"/>
                </a:solidFill>
                <a:effectLst/>
                <a:latin typeface="Slack-Lato"/>
              </a:rPr>
              <a:t>Performance by market cap table only P&amp;L- yes using group by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1D1C1D"/>
                </a:solidFill>
                <a:effectLst/>
                <a:latin typeface="Slack-Lato"/>
              </a:rPr>
              <a:t>Performance by position size only P&amp;L- yes using group by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1D1C1D"/>
                </a:solidFill>
                <a:effectLst/>
                <a:latin typeface="Slack-Lato"/>
              </a:rPr>
              <a:t>Performance by industry yes, not at industry X stock</a:t>
            </a:r>
          </a:p>
          <a:p>
            <a:pPr algn="l">
              <a:buNone/>
            </a:pPr>
            <a:r>
              <a:rPr lang="en-IN" b="0" i="0" dirty="0">
                <a:solidFill>
                  <a:srgbClr val="1D1C1D"/>
                </a:solidFill>
                <a:effectLst/>
                <a:latin typeface="Slack-Lato"/>
              </a:rPr>
              <a:t>Page 34</a:t>
            </a:r>
            <a:br>
              <a:rPr lang="en-IN" b="0" i="0" dirty="0">
                <a:solidFill>
                  <a:srgbClr val="1D1C1D"/>
                </a:solidFill>
                <a:effectLst/>
                <a:latin typeface="Slack-Lato"/>
              </a:rPr>
            </a:br>
            <a:endParaRPr lang="en-IN" b="0" i="0" dirty="0">
              <a:solidFill>
                <a:srgbClr val="1D1C1D"/>
              </a:solidFill>
              <a:effectLst/>
              <a:latin typeface="Slack-Lato"/>
            </a:endParaRP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1D1C1D"/>
                </a:solidFill>
                <a:effectLst/>
                <a:latin typeface="Slack-Lato"/>
              </a:rPr>
              <a:t>P&amp;L Hit rate and slugging planned but blocked on time series metrics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1D1C1D"/>
                </a:solidFill>
                <a:effectLst/>
                <a:latin typeface="Slack-Lato"/>
              </a:rPr>
              <a:t>Attribution and factor return (Planned) using group by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1D1C1D"/>
                </a:solidFill>
                <a:effectLst/>
                <a:latin typeface="Slack-Lato"/>
              </a:rPr>
              <a:t>Exposure as a chart yes but they have table format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48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D6B395-A3D8-DAC7-3A15-3DE8249F8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120640"/>
              </p:ext>
            </p:extLst>
          </p:nvPr>
        </p:nvGraphicFramePr>
        <p:xfrm>
          <a:off x="708009" y="1595119"/>
          <a:ext cx="9106551" cy="4694650"/>
        </p:xfrm>
        <a:graphic>
          <a:graphicData uri="http://schemas.openxmlformats.org/drawingml/2006/table">
            <a:tbl>
              <a:tblPr/>
              <a:tblGrid>
                <a:gridCol w="1518273">
                  <a:extLst>
                    <a:ext uri="{9D8B030D-6E8A-4147-A177-3AD203B41FA5}">
                      <a16:colId xmlns:a16="http://schemas.microsoft.com/office/drawing/2014/main" val="324682827"/>
                    </a:ext>
                  </a:extLst>
                </a:gridCol>
                <a:gridCol w="1583268">
                  <a:extLst>
                    <a:ext uri="{9D8B030D-6E8A-4147-A177-3AD203B41FA5}">
                      <a16:colId xmlns:a16="http://schemas.microsoft.com/office/drawing/2014/main" val="3489276151"/>
                    </a:ext>
                  </a:extLst>
                </a:gridCol>
                <a:gridCol w="1518273">
                  <a:extLst>
                    <a:ext uri="{9D8B030D-6E8A-4147-A177-3AD203B41FA5}">
                      <a16:colId xmlns:a16="http://schemas.microsoft.com/office/drawing/2014/main" val="2396807838"/>
                    </a:ext>
                  </a:extLst>
                </a:gridCol>
                <a:gridCol w="1452454">
                  <a:extLst>
                    <a:ext uri="{9D8B030D-6E8A-4147-A177-3AD203B41FA5}">
                      <a16:colId xmlns:a16="http://schemas.microsoft.com/office/drawing/2014/main" val="2204324743"/>
                    </a:ext>
                  </a:extLst>
                </a:gridCol>
                <a:gridCol w="1452454">
                  <a:extLst>
                    <a:ext uri="{9D8B030D-6E8A-4147-A177-3AD203B41FA5}">
                      <a16:colId xmlns:a16="http://schemas.microsoft.com/office/drawing/2014/main" val="2142943124"/>
                    </a:ext>
                  </a:extLst>
                </a:gridCol>
                <a:gridCol w="1581829">
                  <a:extLst>
                    <a:ext uri="{9D8B030D-6E8A-4147-A177-3AD203B41FA5}">
                      <a16:colId xmlns:a16="http://schemas.microsoft.com/office/drawing/2014/main" val="50230075"/>
                    </a:ext>
                  </a:extLst>
                </a:gridCol>
              </a:tblGrid>
              <a:tr h="455601"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Single Stock Breakdown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9936" marR="169936" marT="84968" marB="849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531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531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531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endParaRPr lang="en-IN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5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947333"/>
                  </a:ext>
                </a:extLst>
              </a:tr>
              <a:tr h="5407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Ticker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9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 Dollar Vol ($M)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9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 Idio Variance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9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 Factor Variance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900" b="0" i="0" u="sng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 Total Variance</a:t>
                      </a:r>
                      <a:endParaRPr lang="en-IN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900" b="0" i="0" u="sng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 Weight of Gross</a:t>
                      </a:r>
                      <a:endParaRPr lang="en-IN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863457"/>
                  </a:ext>
                </a:extLst>
              </a:tr>
              <a:tr h="3293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88%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407934"/>
                  </a:ext>
                </a:extLst>
              </a:tr>
              <a:tr h="3293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AAPL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61.8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58.5%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8EC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11.1%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69.6%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35.8%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34110"/>
                  </a:ext>
                </a:extLst>
              </a:tr>
              <a:tr h="3293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MSFT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36.6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17.1%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2DF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-2.0%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15.1%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-24.9%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777413"/>
                  </a:ext>
                </a:extLst>
              </a:tr>
              <a:tr h="3293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TSLA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27.9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9.4%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-2.7%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6.8%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-7.8%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054725"/>
                  </a:ext>
                </a:extLst>
              </a:tr>
              <a:tr h="3293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BBWI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5.5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1.4%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1.9%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691184"/>
                  </a:ext>
                </a:extLst>
              </a:tr>
              <a:tr h="3293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OLLI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4.9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1.9%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997776"/>
                  </a:ext>
                </a:extLst>
              </a:tr>
              <a:tr h="3293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DLTR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4.5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1.9%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17731"/>
                  </a:ext>
                </a:extLst>
              </a:tr>
              <a:tr h="3293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ULTA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4.4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1.9%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210509"/>
                  </a:ext>
                </a:extLst>
              </a:tr>
              <a:tr h="3293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TPR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4.6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1.9%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716249"/>
                  </a:ext>
                </a:extLst>
              </a:tr>
              <a:tr h="3293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LW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4.0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1.9%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774153"/>
                  </a:ext>
                </a:extLst>
              </a:tr>
              <a:tr h="3293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BURL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4.2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1.0%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1.9%</a:t>
                      </a:r>
                      <a:endParaRPr lang="en-IN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702" marR="17702" marT="177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4973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F3BD221-8C32-1BC8-BEA5-07434817920B}"/>
              </a:ext>
            </a:extLst>
          </p:cNvPr>
          <p:cNvSpPr txBox="1"/>
          <p:nvPr/>
        </p:nvSpPr>
        <p:spPr>
          <a:xfrm>
            <a:off x="965200" y="833120"/>
            <a:ext cx="282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Slide 32: Initiations % GMV</a:t>
            </a:r>
          </a:p>
        </p:txBody>
      </p:sp>
    </p:spTree>
    <p:extLst>
      <p:ext uri="{BB962C8B-B14F-4D97-AF65-F5344CB8AC3E}">
        <p14:creationId xmlns:p14="http://schemas.microsoft.com/office/powerpoint/2010/main" val="3674257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DCAFAC-CA5C-3235-4F34-8F99BA303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77788"/>
              </p:ext>
            </p:extLst>
          </p:nvPr>
        </p:nvGraphicFramePr>
        <p:xfrm>
          <a:off x="1053375" y="1622857"/>
          <a:ext cx="7897585" cy="4591680"/>
        </p:xfrm>
        <a:graphic>
          <a:graphicData uri="http://schemas.openxmlformats.org/drawingml/2006/table">
            <a:tbl>
              <a:tblPr/>
              <a:tblGrid>
                <a:gridCol w="2514237">
                  <a:extLst>
                    <a:ext uri="{9D8B030D-6E8A-4147-A177-3AD203B41FA5}">
                      <a16:colId xmlns:a16="http://schemas.microsoft.com/office/drawing/2014/main" val="1822171593"/>
                    </a:ext>
                  </a:extLst>
                </a:gridCol>
                <a:gridCol w="1905953">
                  <a:extLst>
                    <a:ext uri="{9D8B030D-6E8A-4147-A177-3AD203B41FA5}">
                      <a16:colId xmlns:a16="http://schemas.microsoft.com/office/drawing/2014/main" val="346473145"/>
                    </a:ext>
                  </a:extLst>
                </a:gridCol>
                <a:gridCol w="1571442">
                  <a:extLst>
                    <a:ext uri="{9D8B030D-6E8A-4147-A177-3AD203B41FA5}">
                      <a16:colId xmlns:a16="http://schemas.microsoft.com/office/drawing/2014/main" val="471583087"/>
                    </a:ext>
                  </a:extLst>
                </a:gridCol>
                <a:gridCol w="1905953">
                  <a:extLst>
                    <a:ext uri="{9D8B030D-6E8A-4147-A177-3AD203B41FA5}">
                      <a16:colId xmlns:a16="http://schemas.microsoft.com/office/drawing/2014/main" val="1869169887"/>
                    </a:ext>
                  </a:extLst>
                </a:gridCol>
              </a:tblGrid>
              <a:tr h="3303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Top 10 Winners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672389"/>
                  </a:ext>
                </a:extLst>
              </a:tr>
              <a:tr h="589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Ticker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1D Return</a:t>
                      </a:r>
                      <a:br>
                        <a:rPr lang="en-IN" sz="22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IN" sz="22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1D P&amp;L</a:t>
                      </a:r>
                      <a:br>
                        <a:rPr lang="en-IN" sz="22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IN" sz="22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($M)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 Weight of</a:t>
                      </a:r>
                      <a:br>
                        <a:rPr lang="en-IN" sz="22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IN" sz="22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Gross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226699"/>
                  </a:ext>
                </a:extLst>
              </a:tr>
              <a:tr h="3303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AAPL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1.9%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4.01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35.8%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617080"/>
                  </a:ext>
                </a:extLst>
              </a:tr>
              <a:tr h="3303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MSFT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-0.9%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1.29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-24.9%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301570"/>
                  </a:ext>
                </a:extLst>
              </a:tr>
              <a:tr h="3303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TSLA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-1.7%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0.56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-7.8%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704479"/>
                  </a:ext>
                </a:extLst>
              </a:tr>
              <a:tr h="3303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DLTR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3.2%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0.39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1.9%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95132"/>
                  </a:ext>
                </a:extLst>
              </a:tr>
              <a:tr h="3303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OLLI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2.8%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0.36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1.9%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653528"/>
                  </a:ext>
                </a:extLst>
              </a:tr>
              <a:tr h="3303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TJX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3.0%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0.36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1.9%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518278"/>
                  </a:ext>
                </a:extLst>
              </a:tr>
              <a:tr h="3303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ULTA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2.0%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0.20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1.9%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406936"/>
                  </a:ext>
                </a:extLst>
              </a:tr>
              <a:tr h="3303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DOV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0.6%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0.07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1.9%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603162"/>
                  </a:ext>
                </a:extLst>
              </a:tr>
              <a:tr h="3303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TPR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0.2%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0.03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1.9%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592586"/>
                  </a:ext>
                </a:extLst>
              </a:tr>
              <a:tr h="3303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BURL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0.3%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0.03</a:t>
                      </a:r>
                      <a:endParaRPr lang="en-IN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1.9%</a:t>
                      </a:r>
                      <a:endParaRPr lang="en-IN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420" marR="19420" marT="194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3462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EFE946-43AA-B946-D134-4D9BA15D8929}"/>
              </a:ext>
            </a:extLst>
          </p:cNvPr>
          <p:cNvSpPr txBox="1"/>
          <p:nvPr/>
        </p:nvSpPr>
        <p:spPr>
          <a:xfrm>
            <a:off x="944880" y="6434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Slide 32: P&amp;L Winners</a:t>
            </a:r>
          </a:p>
        </p:txBody>
      </p:sp>
    </p:spTree>
    <p:extLst>
      <p:ext uri="{BB962C8B-B14F-4D97-AF65-F5344CB8AC3E}">
        <p14:creationId xmlns:p14="http://schemas.microsoft.com/office/powerpoint/2010/main" val="4246490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7C0199-24B4-BC13-5D88-77D3C306C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33: P&amp;L Winners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8797B9-10FA-8188-CB2D-5F57B6D71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519844"/>
              </p:ext>
            </p:extLst>
          </p:nvPr>
        </p:nvGraphicFramePr>
        <p:xfrm>
          <a:off x="860205" y="2633472"/>
          <a:ext cx="10468543" cy="358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600">
                  <a:extLst>
                    <a:ext uri="{9D8B030D-6E8A-4147-A177-3AD203B41FA5}">
                      <a16:colId xmlns:a16="http://schemas.microsoft.com/office/drawing/2014/main" val="3981173313"/>
                    </a:ext>
                  </a:extLst>
                </a:gridCol>
                <a:gridCol w="2047229">
                  <a:extLst>
                    <a:ext uri="{9D8B030D-6E8A-4147-A177-3AD203B41FA5}">
                      <a16:colId xmlns:a16="http://schemas.microsoft.com/office/drawing/2014/main" val="2175174147"/>
                    </a:ext>
                  </a:extLst>
                </a:gridCol>
                <a:gridCol w="2047229">
                  <a:extLst>
                    <a:ext uri="{9D8B030D-6E8A-4147-A177-3AD203B41FA5}">
                      <a16:colId xmlns:a16="http://schemas.microsoft.com/office/drawing/2014/main" val="1093121470"/>
                    </a:ext>
                  </a:extLst>
                </a:gridCol>
                <a:gridCol w="2047229">
                  <a:extLst>
                    <a:ext uri="{9D8B030D-6E8A-4147-A177-3AD203B41FA5}">
                      <a16:colId xmlns:a16="http://schemas.microsoft.com/office/drawing/2014/main" val="2299981341"/>
                    </a:ext>
                  </a:extLst>
                </a:gridCol>
                <a:gridCol w="1626256">
                  <a:extLst>
                    <a:ext uri="{9D8B030D-6E8A-4147-A177-3AD203B41FA5}">
                      <a16:colId xmlns:a16="http://schemas.microsoft.com/office/drawing/2014/main" val="978318031"/>
                    </a:ext>
                  </a:extLst>
                </a:gridCol>
              </a:tblGrid>
              <a:tr h="366542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IN" sz="1900" u="none" strike="noStrike">
                          <a:effectLst/>
                        </a:rPr>
                        <a:t>Performance Breakdown</a:t>
                      </a:r>
                      <a:endParaRPr lang="en-IN" sz="19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900" u="none" strike="noStrike">
                          <a:effectLst/>
                        </a:rPr>
                        <a:t> </a:t>
                      </a:r>
                      <a:endParaRPr lang="en-IN" sz="19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900" u="none" strike="noStrike">
                          <a:effectLst/>
                        </a:rPr>
                        <a:t> </a:t>
                      </a:r>
                      <a:endParaRPr lang="en-IN" sz="19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900" u="none" strike="noStrike">
                          <a:effectLst/>
                        </a:rPr>
                        <a:t> </a:t>
                      </a:r>
                      <a:endParaRPr lang="en-IN" sz="19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extLst>
                  <a:ext uri="{0D108BD9-81ED-4DB2-BD59-A6C34878D82A}">
                    <a16:rowId xmlns:a16="http://schemas.microsoft.com/office/drawing/2014/main" val="1622984073"/>
                  </a:ext>
                </a:extLst>
              </a:tr>
              <a:tr h="654025">
                <a:tc>
                  <a:txBody>
                    <a:bodyPr/>
                    <a:lstStyle/>
                    <a:p>
                      <a:pPr algn="r" fontAlgn="b"/>
                      <a:endParaRPr lang="en-IN" sz="1900" b="0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sng" strike="noStrike">
                          <a:effectLst/>
                        </a:rPr>
                        <a:t>1W Return</a:t>
                      </a:r>
                      <a:br>
                        <a:rPr lang="en-IN" sz="1900" u="sng" strike="noStrike">
                          <a:effectLst/>
                        </a:rPr>
                      </a:br>
                      <a:r>
                        <a:rPr lang="en-IN" sz="1900" u="sng" strike="noStrike">
                          <a:effectLst/>
                        </a:rPr>
                        <a:t>(%)</a:t>
                      </a:r>
                      <a:endParaRPr lang="en-IN" sz="1900" b="0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sng" strike="noStrike">
                          <a:effectLst/>
                        </a:rPr>
                        <a:t>MTD Return</a:t>
                      </a:r>
                      <a:br>
                        <a:rPr lang="en-IN" sz="1900" u="sng" strike="noStrike">
                          <a:effectLst/>
                        </a:rPr>
                      </a:br>
                      <a:r>
                        <a:rPr lang="en-IN" sz="1900" u="sng" strike="noStrike">
                          <a:effectLst/>
                        </a:rPr>
                        <a:t>(%)</a:t>
                      </a:r>
                      <a:endParaRPr lang="en-IN" sz="1900" b="0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sng" strike="noStrike">
                          <a:effectLst/>
                        </a:rPr>
                        <a:t>YTD Return</a:t>
                      </a:r>
                      <a:br>
                        <a:rPr lang="en-IN" sz="1900" u="sng" strike="noStrike">
                          <a:effectLst/>
                        </a:rPr>
                      </a:br>
                      <a:r>
                        <a:rPr lang="en-IN" sz="1900" u="sng" strike="noStrike">
                          <a:effectLst/>
                        </a:rPr>
                        <a:t>(%)</a:t>
                      </a:r>
                      <a:endParaRPr lang="en-IN" sz="1900" b="0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sng" strike="noStrike">
                          <a:effectLst/>
                        </a:rPr>
                        <a:t>1W P&amp;L</a:t>
                      </a:r>
                      <a:br>
                        <a:rPr lang="en-IN" sz="1900" u="sng" strike="noStrike">
                          <a:effectLst/>
                        </a:rPr>
                      </a:br>
                      <a:r>
                        <a:rPr lang="en-IN" sz="1900" u="sng" strike="noStrike">
                          <a:effectLst/>
                        </a:rPr>
                        <a:t>($M)</a:t>
                      </a:r>
                      <a:endParaRPr lang="en-IN" sz="1900" b="0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extLst>
                  <a:ext uri="{0D108BD9-81ED-4DB2-BD59-A6C34878D82A}">
                    <a16:rowId xmlns:a16="http://schemas.microsoft.com/office/drawing/2014/main" val="4238919083"/>
                  </a:ext>
                </a:extLst>
              </a:tr>
              <a:tr h="366542">
                <a:tc>
                  <a:txBody>
                    <a:bodyPr/>
                    <a:lstStyle/>
                    <a:p>
                      <a:pPr algn="l" fontAlgn="b"/>
                      <a:r>
                        <a:rPr lang="en-IN" sz="1900" u="none" strike="noStrike">
                          <a:effectLst/>
                        </a:rPr>
                        <a:t>Total</a:t>
                      </a:r>
                      <a:endParaRPr lang="en-IN" sz="1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0.71%</a:t>
                      </a:r>
                      <a:endParaRPr lang="en-IN" sz="1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-2.59%</a:t>
                      </a:r>
                      <a:endParaRPr lang="en-IN" sz="1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-1.51%</a:t>
                      </a:r>
                      <a:endParaRPr lang="en-IN" sz="1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4.18</a:t>
                      </a:r>
                      <a:endParaRPr lang="en-IN" sz="1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extLst>
                  <a:ext uri="{0D108BD9-81ED-4DB2-BD59-A6C34878D82A}">
                    <a16:rowId xmlns:a16="http://schemas.microsoft.com/office/drawing/2014/main" val="1041451497"/>
                  </a:ext>
                </a:extLst>
              </a:tr>
              <a:tr h="366542">
                <a:tc>
                  <a:txBody>
                    <a:bodyPr/>
                    <a:lstStyle/>
                    <a:p>
                      <a:pPr algn="l" fontAlgn="b"/>
                      <a:r>
                        <a:rPr lang="en-IN" sz="1900" u="none" strike="noStrike">
                          <a:effectLst/>
                        </a:rPr>
                        <a:t>Mega Cap &gt;$200B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0.51%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-3.42%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-0.41%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2.13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extLst>
                  <a:ext uri="{0D108BD9-81ED-4DB2-BD59-A6C34878D82A}">
                    <a16:rowId xmlns:a16="http://schemas.microsoft.com/office/drawing/2014/main" val="461536231"/>
                  </a:ext>
                </a:extLst>
              </a:tr>
              <a:tr h="366542">
                <a:tc>
                  <a:txBody>
                    <a:bodyPr/>
                    <a:lstStyle/>
                    <a:p>
                      <a:pPr algn="l" fontAlgn="b"/>
                      <a:r>
                        <a:rPr lang="en-IN" sz="1900" u="none" strike="noStrike">
                          <a:effectLst/>
                        </a:rPr>
                        <a:t>Large Cap $10B-$200B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0.43%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-5.33%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-4.36%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0.34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extLst>
                  <a:ext uri="{0D108BD9-81ED-4DB2-BD59-A6C34878D82A}">
                    <a16:rowId xmlns:a16="http://schemas.microsoft.com/office/drawing/2014/main" val="3023390820"/>
                  </a:ext>
                </a:extLst>
              </a:tr>
              <a:tr h="366542">
                <a:tc>
                  <a:txBody>
                    <a:bodyPr/>
                    <a:lstStyle/>
                    <a:p>
                      <a:pPr algn="l" fontAlgn="b"/>
                      <a:r>
                        <a:rPr lang="en-IN" sz="1900" u="none" strike="noStrike">
                          <a:effectLst/>
                        </a:rPr>
                        <a:t>Nano Cap &lt;$50M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0.86%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4.57%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3.23%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0.57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extLst>
                  <a:ext uri="{0D108BD9-81ED-4DB2-BD59-A6C34878D82A}">
                    <a16:rowId xmlns:a16="http://schemas.microsoft.com/office/drawing/2014/main" val="2081307945"/>
                  </a:ext>
                </a:extLst>
              </a:tr>
              <a:tr h="366542">
                <a:tc>
                  <a:txBody>
                    <a:bodyPr/>
                    <a:lstStyle/>
                    <a:p>
                      <a:pPr algn="l" fontAlgn="b"/>
                      <a:r>
                        <a:rPr lang="en-IN" sz="1900" u="none" strike="noStrike">
                          <a:effectLst/>
                        </a:rPr>
                        <a:t>Mid Cap $2B-$10B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3.47%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-0.53%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-6.09%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1.13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extLst>
                  <a:ext uri="{0D108BD9-81ED-4DB2-BD59-A6C34878D82A}">
                    <a16:rowId xmlns:a16="http://schemas.microsoft.com/office/drawing/2014/main" val="1550807445"/>
                  </a:ext>
                </a:extLst>
              </a:tr>
              <a:tr h="366542">
                <a:tc>
                  <a:txBody>
                    <a:bodyPr/>
                    <a:lstStyle/>
                    <a:p>
                      <a:pPr algn="l" fontAlgn="b"/>
                      <a:r>
                        <a:rPr lang="en-IN" sz="1900" u="none" strike="noStrike">
                          <a:effectLst/>
                        </a:rPr>
                        <a:t>SPY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-1.48%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-6.48%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-5.19%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extLst>
                  <a:ext uri="{0D108BD9-81ED-4DB2-BD59-A6C34878D82A}">
                    <a16:rowId xmlns:a16="http://schemas.microsoft.com/office/drawing/2014/main" val="1931028270"/>
                  </a:ext>
                </a:extLst>
              </a:tr>
              <a:tr h="366542">
                <a:tc>
                  <a:txBody>
                    <a:bodyPr/>
                    <a:lstStyle/>
                    <a:p>
                      <a:pPr algn="l" fontAlgn="b"/>
                      <a:r>
                        <a:rPr lang="en-IN" sz="1900" u="none" strike="noStrike">
                          <a:effectLst/>
                        </a:rPr>
                        <a:t>IWM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-1.64%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-6.62%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900" u="none" strike="noStrike">
                          <a:effectLst/>
                        </a:rPr>
                        <a:t>-9.28%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34" marR="16334" marT="16334" marB="0" anchor="b"/>
                </a:tc>
                <a:extLst>
                  <a:ext uri="{0D108BD9-81ED-4DB2-BD59-A6C34878D82A}">
                    <a16:rowId xmlns:a16="http://schemas.microsoft.com/office/drawing/2014/main" val="2735939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971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897294-6820-212F-E994-CD93D4406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33: Last week performance by position size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CF172B4-F673-47DB-D241-8C09DED0ED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728025"/>
              </p:ext>
            </p:extLst>
          </p:nvPr>
        </p:nvGraphicFramePr>
        <p:xfrm>
          <a:off x="987560" y="2633472"/>
          <a:ext cx="10213832" cy="3826746"/>
        </p:xfrm>
        <a:graphic>
          <a:graphicData uri="http://schemas.openxmlformats.org/drawingml/2006/table">
            <a:tbl>
              <a:tblPr/>
              <a:tblGrid>
                <a:gridCol w="2398447">
                  <a:extLst>
                    <a:ext uri="{9D8B030D-6E8A-4147-A177-3AD203B41FA5}">
                      <a16:colId xmlns:a16="http://schemas.microsoft.com/office/drawing/2014/main" val="2884096659"/>
                    </a:ext>
                  </a:extLst>
                </a:gridCol>
                <a:gridCol w="2070243">
                  <a:extLst>
                    <a:ext uri="{9D8B030D-6E8A-4147-A177-3AD203B41FA5}">
                      <a16:colId xmlns:a16="http://schemas.microsoft.com/office/drawing/2014/main" val="237078148"/>
                    </a:ext>
                  </a:extLst>
                </a:gridCol>
                <a:gridCol w="2070243">
                  <a:extLst>
                    <a:ext uri="{9D8B030D-6E8A-4147-A177-3AD203B41FA5}">
                      <a16:colId xmlns:a16="http://schemas.microsoft.com/office/drawing/2014/main" val="3284071496"/>
                    </a:ext>
                  </a:extLst>
                </a:gridCol>
                <a:gridCol w="1970063">
                  <a:extLst>
                    <a:ext uri="{9D8B030D-6E8A-4147-A177-3AD203B41FA5}">
                      <a16:colId xmlns:a16="http://schemas.microsoft.com/office/drawing/2014/main" val="1374424885"/>
                    </a:ext>
                  </a:extLst>
                </a:gridCol>
                <a:gridCol w="1704836">
                  <a:extLst>
                    <a:ext uri="{9D8B030D-6E8A-4147-A177-3AD203B41FA5}">
                      <a16:colId xmlns:a16="http://schemas.microsoft.com/office/drawing/2014/main" val="1895755854"/>
                    </a:ext>
                  </a:extLst>
                </a:gridCol>
              </a:tblGrid>
              <a:tr h="487905"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Performance Breakdown by Gross Invested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0898" marR="150898" marT="75449" marB="754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094755"/>
                  </a:ext>
                </a:extLst>
              </a:tr>
              <a:tr h="62937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1W Return</a:t>
                      </a:r>
                      <a:br>
                        <a:rPr lang="en-IN" sz="18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IN" sz="18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MTD Return</a:t>
                      </a:r>
                      <a:br>
                        <a:rPr lang="en-IN" sz="18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IN" sz="18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YTD Return</a:t>
                      </a:r>
                      <a:br>
                        <a:rPr lang="en-IN" sz="18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IN" sz="18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(%)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1W P&amp;L</a:t>
                      </a:r>
                      <a:br>
                        <a:rPr lang="en-IN" sz="18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IN" sz="1800" b="0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($M)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87503"/>
                  </a:ext>
                </a:extLst>
              </a:tr>
              <a:tr h="3527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0.71%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-2.59%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-1.51%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4.18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71562"/>
                  </a:ext>
                </a:extLst>
              </a:tr>
              <a:tr h="3527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&gt;$100M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1.23%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-4.33%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-3.69%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4.35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51410"/>
                  </a:ext>
                </a:extLst>
              </a:tr>
              <a:tr h="3527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$10 to 25M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0.86%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-3.66%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-4.58%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1.28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464318"/>
                  </a:ext>
                </a:extLst>
              </a:tr>
              <a:tr h="3527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$25 to 50M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-2.46%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6.61%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21.27%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-1.31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006236"/>
                  </a:ext>
                </a:extLst>
              </a:tr>
              <a:tr h="3527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$1M to 10M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-5.67%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5.58%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-3.07%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-0.15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032555"/>
                  </a:ext>
                </a:extLst>
              </a:tr>
              <a:tr h="3527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SPY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-1.48%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-6.48%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-5.19%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935022"/>
                  </a:ext>
                </a:extLst>
              </a:tr>
              <a:tr h="3527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IWM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-1.64%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-6.62%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-9.28%</a:t>
                      </a:r>
                      <a:endParaRPr lang="en-IN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19" marR="15719" marT="1571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056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136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44008-A370-10AD-5431-9DFCBDB3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33: Last week performance by Industry. 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56E037-E008-8533-46ED-D6CE52E5A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91507"/>
              </p:ext>
            </p:extLst>
          </p:nvPr>
        </p:nvGraphicFramePr>
        <p:xfrm>
          <a:off x="4664382" y="640080"/>
          <a:ext cx="7194450" cy="555041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317515">
                  <a:extLst>
                    <a:ext uri="{9D8B030D-6E8A-4147-A177-3AD203B41FA5}">
                      <a16:colId xmlns:a16="http://schemas.microsoft.com/office/drawing/2014/main" val="476249578"/>
                    </a:ext>
                  </a:extLst>
                </a:gridCol>
                <a:gridCol w="970266">
                  <a:extLst>
                    <a:ext uri="{9D8B030D-6E8A-4147-A177-3AD203B41FA5}">
                      <a16:colId xmlns:a16="http://schemas.microsoft.com/office/drawing/2014/main" val="1385765210"/>
                    </a:ext>
                  </a:extLst>
                </a:gridCol>
                <a:gridCol w="970266">
                  <a:extLst>
                    <a:ext uri="{9D8B030D-6E8A-4147-A177-3AD203B41FA5}">
                      <a16:colId xmlns:a16="http://schemas.microsoft.com/office/drawing/2014/main" val="2240448599"/>
                    </a:ext>
                  </a:extLst>
                </a:gridCol>
                <a:gridCol w="970266">
                  <a:extLst>
                    <a:ext uri="{9D8B030D-6E8A-4147-A177-3AD203B41FA5}">
                      <a16:colId xmlns:a16="http://schemas.microsoft.com/office/drawing/2014/main" val="3125390113"/>
                    </a:ext>
                  </a:extLst>
                </a:gridCol>
                <a:gridCol w="970266">
                  <a:extLst>
                    <a:ext uri="{9D8B030D-6E8A-4147-A177-3AD203B41FA5}">
                      <a16:colId xmlns:a16="http://schemas.microsoft.com/office/drawing/2014/main" val="4123586168"/>
                    </a:ext>
                  </a:extLst>
                </a:gridCol>
                <a:gridCol w="1025605">
                  <a:extLst>
                    <a:ext uri="{9D8B030D-6E8A-4147-A177-3AD203B41FA5}">
                      <a16:colId xmlns:a16="http://schemas.microsoft.com/office/drawing/2014/main" val="1329156154"/>
                    </a:ext>
                  </a:extLst>
                </a:gridCol>
                <a:gridCol w="970266">
                  <a:extLst>
                    <a:ext uri="{9D8B030D-6E8A-4147-A177-3AD203B41FA5}">
                      <a16:colId xmlns:a16="http://schemas.microsoft.com/office/drawing/2014/main" val="3164419496"/>
                    </a:ext>
                  </a:extLst>
                </a:gridCol>
              </a:tblGrid>
              <a:tr h="425013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IN" sz="1100" b="0" u="none" strike="noStrike" cap="none" spc="60">
                          <a:solidFill>
                            <a:schemeClr val="bg1"/>
                          </a:solidFill>
                          <a:effectLst/>
                        </a:rPr>
                        <a:t>Performance Breakdown by Industry</a:t>
                      </a:r>
                      <a:endParaRPr lang="en-IN" sz="1100" b="0" i="0" u="none" strike="noStrike" cap="none" spc="6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u="none" strike="noStrike" cap="none" spc="6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 cap="none" spc="6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u="none" strike="noStrike" cap="none" spc="6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 cap="none" spc="6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u="none" strike="noStrike" cap="none" spc="6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 cap="none" spc="6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u="none" strike="noStrike" cap="none" spc="6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 cap="none" spc="6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u="none" strike="noStrike" cap="none" spc="6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IN" sz="1100" b="0" i="0" u="none" strike="noStrike" cap="none" spc="6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302463"/>
                  </a:ext>
                </a:extLst>
              </a:tr>
              <a:tr h="382932">
                <a:tc>
                  <a:txBody>
                    <a:bodyPr/>
                    <a:lstStyle/>
                    <a:p>
                      <a:pPr algn="r" fontAlgn="b"/>
                      <a:endParaRPr lang="en-IN" sz="1000" b="0" i="0" u="sng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sng" strike="noStrike" cap="none" spc="0">
                          <a:solidFill>
                            <a:schemeClr val="tx1"/>
                          </a:solidFill>
                          <a:effectLst/>
                        </a:rPr>
                        <a:t>1W Return</a:t>
                      </a:r>
                      <a:br>
                        <a:rPr lang="en-IN" sz="1000" u="sng" strike="noStrike" cap="none" spc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IN" sz="1000" u="sng" strike="noStrike" cap="none" spc="0">
                          <a:solidFill>
                            <a:schemeClr val="tx1"/>
                          </a:solidFill>
                          <a:effectLst/>
                        </a:rPr>
                        <a:t>(%)</a:t>
                      </a:r>
                      <a:endParaRPr lang="en-IN" sz="1000" b="0" i="0" u="sng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sng" strike="noStrike" cap="none" spc="0">
                          <a:solidFill>
                            <a:schemeClr val="tx1"/>
                          </a:solidFill>
                          <a:effectLst/>
                        </a:rPr>
                        <a:t>MTD Return</a:t>
                      </a:r>
                      <a:br>
                        <a:rPr lang="en-IN" sz="1000" u="sng" strike="noStrike" cap="none" spc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IN" sz="1000" u="sng" strike="noStrike" cap="none" spc="0">
                          <a:solidFill>
                            <a:schemeClr val="tx1"/>
                          </a:solidFill>
                          <a:effectLst/>
                        </a:rPr>
                        <a:t>(%)</a:t>
                      </a:r>
                      <a:endParaRPr lang="en-IN" sz="1000" b="0" i="0" u="sng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sng" strike="noStrike" cap="none" spc="0">
                          <a:solidFill>
                            <a:schemeClr val="tx1"/>
                          </a:solidFill>
                          <a:effectLst/>
                        </a:rPr>
                        <a:t>YTD Return</a:t>
                      </a:r>
                      <a:br>
                        <a:rPr lang="en-IN" sz="1000" u="sng" strike="noStrike" cap="none" spc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IN" sz="1000" u="sng" strike="noStrike" cap="none" spc="0">
                          <a:solidFill>
                            <a:schemeClr val="tx1"/>
                          </a:solidFill>
                          <a:effectLst/>
                        </a:rPr>
                        <a:t>(%)</a:t>
                      </a:r>
                      <a:endParaRPr lang="en-IN" sz="1000" b="0" i="0" u="sng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sng" strike="noStrike" cap="none" spc="0">
                          <a:solidFill>
                            <a:schemeClr val="tx1"/>
                          </a:solidFill>
                          <a:effectLst/>
                        </a:rPr>
                        <a:t>1W P&amp;L</a:t>
                      </a:r>
                      <a:br>
                        <a:rPr lang="en-IN" sz="1000" u="sng" strike="noStrike" cap="none" spc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IN" sz="1000" u="sng" strike="noStrike" cap="none" spc="0">
                          <a:solidFill>
                            <a:schemeClr val="tx1"/>
                          </a:solidFill>
                          <a:effectLst/>
                        </a:rPr>
                        <a:t>($M)</a:t>
                      </a:r>
                      <a:endParaRPr lang="en-IN" sz="1000" b="0" i="0" u="sng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sng" strike="noStrike" cap="none" spc="0">
                          <a:solidFill>
                            <a:schemeClr val="tx1"/>
                          </a:solidFill>
                          <a:effectLst/>
                        </a:rPr>
                        <a:t>Ending Gross</a:t>
                      </a:r>
                      <a:br>
                        <a:rPr lang="en-IN" sz="1000" u="sng" strike="noStrike" cap="none" spc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IN" sz="1000" u="sng" strike="noStrike" cap="none" spc="0">
                          <a:solidFill>
                            <a:schemeClr val="tx1"/>
                          </a:solidFill>
                          <a:effectLst/>
                        </a:rPr>
                        <a:t>($M)</a:t>
                      </a:r>
                      <a:endParaRPr lang="en-IN" sz="1000" b="0" i="0" u="sng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sng" strike="noStrike" cap="none" spc="0">
                          <a:solidFill>
                            <a:schemeClr val="tx1"/>
                          </a:solidFill>
                          <a:effectLst/>
                        </a:rPr>
                        <a:t>Ending Net</a:t>
                      </a:r>
                      <a:br>
                        <a:rPr lang="en-IN" sz="1000" u="sng" strike="noStrike" cap="none" spc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IN" sz="1000" u="sng" strike="noStrike" cap="none" spc="0">
                          <a:solidFill>
                            <a:schemeClr val="tx1"/>
                          </a:solidFill>
                          <a:effectLst/>
                        </a:rPr>
                        <a:t>($M)</a:t>
                      </a:r>
                      <a:endParaRPr lang="en-IN" sz="1000" b="0" i="0" u="sng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522859"/>
                  </a:ext>
                </a:extLst>
              </a:tr>
              <a:tr h="235651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lang="en-IN" sz="10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0.71%</a:t>
                      </a:r>
                      <a:endParaRPr lang="en-IN" sz="10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-2.59%</a:t>
                      </a:r>
                      <a:endParaRPr lang="en-IN" sz="10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-1.51%</a:t>
                      </a:r>
                      <a:endParaRPr lang="en-IN" sz="10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4.18</a:t>
                      </a:r>
                      <a:endParaRPr lang="en-IN" sz="10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574.6</a:t>
                      </a:r>
                      <a:endParaRPr lang="en-IN" sz="10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146.3</a:t>
                      </a:r>
                      <a:endParaRPr lang="en-IN" sz="10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353110"/>
                  </a:ext>
                </a:extLst>
              </a:tr>
              <a:tr h="235651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Computer Electronics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-0.17%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-9.90%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-12.89%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-0.35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206.7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206.7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79339"/>
                  </a:ext>
                </a:extLst>
              </a:tr>
              <a:tr h="235651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Software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3.17%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4.25%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9.34%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4.71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143.0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-143.0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749049"/>
                  </a:ext>
                </a:extLst>
              </a:tr>
              <a:tr h="235651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Index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1.41%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6.56%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3.88%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0.56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37.7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-37.7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761524"/>
                  </a:ext>
                </a:extLst>
              </a:tr>
              <a:tr h="382932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Automobiles &amp; Components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-7.49%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3.61%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33.99%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-1.88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33.4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-33.4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62466"/>
                  </a:ext>
                </a:extLst>
              </a:tr>
              <a:tr h="235651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Forex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0.04%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1.55%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2.01%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0.01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27.0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27.0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301882"/>
                  </a:ext>
                </a:extLst>
              </a:tr>
              <a:tr h="382932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Distributors &amp; Multiline Retail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2.37%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0.26%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-2.60%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0.54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23.4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23.4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186324"/>
                  </a:ext>
                </a:extLst>
              </a:tr>
              <a:tr h="235651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Apparel Retail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1.70%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-4.99%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-9.29%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0.36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21.7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21.7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676927"/>
                  </a:ext>
                </a:extLst>
              </a:tr>
              <a:tr h="235651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Specialty Stores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2.38%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-8.58%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-14.31%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0.48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20.5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20.5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449056"/>
                  </a:ext>
                </a:extLst>
              </a:tr>
              <a:tr h="5302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Leisure Products, Luxury Goods &amp; Apparel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-3.93%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-17.40%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5.07%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-0.50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12.4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12.4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506858"/>
                  </a:ext>
                </a:extLst>
              </a:tr>
              <a:tr h="235651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Airlines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-3.56%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8.79%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2.02%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-0.46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12.3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12.3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662795"/>
                  </a:ext>
                </a:extLst>
              </a:tr>
              <a:tr h="382932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Food &amp; Staples Retailing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8.99%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-0.15%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-0.21%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1.00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12.1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12.1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98006"/>
                  </a:ext>
                </a:extLst>
              </a:tr>
              <a:tr h="235651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Industrial Machinery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-2.78%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-12.13%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-4.65%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-0.32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11.2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11.2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536390"/>
                  </a:ext>
                </a:extLst>
              </a:tr>
              <a:tr h="235651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Food Products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1.75%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4.13%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-10.53%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0.18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10.7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10.7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140884"/>
                  </a:ext>
                </a:extLst>
              </a:tr>
              <a:tr h="235651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Media &amp; Entertainment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-6.13%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-9.28%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-19.12%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-0.16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2.4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2.4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940261"/>
                  </a:ext>
                </a:extLst>
              </a:tr>
              <a:tr h="235651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SPY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-1.48%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-6.48%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-5.19%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060736"/>
                  </a:ext>
                </a:extLst>
              </a:tr>
              <a:tr h="235651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IWM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-1.64%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-6.62%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-9.28%</a:t>
                      </a:r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06" marR="5906" marT="6312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057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5750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3" name="Rectangle 615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DC3907-44C8-7875-55C0-42136100D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33: Period wise win/ loss and slugging</a:t>
            </a:r>
            <a:endParaRPr lang="en-US" sz="2400" dirty="0"/>
          </a:p>
        </p:txBody>
      </p:sp>
      <p:sp>
        <p:nvSpPr>
          <p:cNvPr id="615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85BE3DF3-507C-8605-CDB9-C028145D0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040" y="2712057"/>
            <a:ext cx="5614416" cy="3466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5D611DA3-5842-CA87-6C3C-34867EF7A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4496" y="2712057"/>
            <a:ext cx="5614416" cy="3466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54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885</Words>
  <Application>Microsoft Macintosh PowerPoint</Application>
  <PresentationFormat>Widescreen</PresentationFormat>
  <Paragraphs>352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Slack-Lato</vt:lpstr>
      <vt:lpstr>Office Theme</vt:lpstr>
      <vt:lpstr>PowerPoint Presentation</vt:lpstr>
      <vt:lpstr>PowerPoint Presentation</vt:lpstr>
      <vt:lpstr>PowerPoint Presentation</vt:lpstr>
      <vt:lpstr>Slide 33: P&amp;L Winners</vt:lpstr>
      <vt:lpstr>Slide 33: Last week performance by position size</vt:lpstr>
      <vt:lpstr>Slide 33: Last week performance by Industry. </vt:lpstr>
      <vt:lpstr>Slide 33: Period wise win/ loss and slugging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Arjun Venugopal</dc:creator>
  <cp:lastModifiedBy>Arjun Venugopal</cp:lastModifiedBy>
  <cp:revision>2</cp:revision>
  <dcterms:created xsi:type="dcterms:W3CDTF">2025-04-01T06:15:00Z</dcterms:created>
  <dcterms:modified xsi:type="dcterms:W3CDTF">2025-04-01T08:35:59Z</dcterms:modified>
</cp:coreProperties>
</file>