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34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CB5175-52B9-4D55-A547-A70319A7F314}" name="Manoj Kasireddi" initials="MK" userId="S::manoj@arcana.io::a1b3a588-170f-4800-aba6-c3536629fd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DE7"/>
    <a:srgbClr val="FBE3D6"/>
    <a:srgbClr val="D9F2D0"/>
    <a:srgbClr val="0176D3"/>
    <a:srgbClr val="017BDC"/>
    <a:srgbClr val="CA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1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2882E-3686-4D7D-863C-3B6741751B2D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3D91F-E355-47F7-84FB-076009E1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C7122-A9D9-DA3B-BD2B-F2896390CE1C}"/>
              </a:ext>
            </a:extLst>
          </p:cNvPr>
          <p:cNvSpPr txBox="1">
            <a:spLocks/>
          </p:cNvSpPr>
          <p:nvPr userDrawn="1"/>
        </p:nvSpPr>
        <p:spPr>
          <a:xfrm>
            <a:off x="6610350" y="65087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5F7CD0-1C0D-475A-B9FD-C08C7FF155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2BFF2-A619-A1BD-C0A1-26A755D6DB2B}"/>
              </a:ext>
            </a:extLst>
          </p:cNvPr>
          <p:cNvSpPr txBox="1"/>
          <p:nvPr userDrawn="1"/>
        </p:nvSpPr>
        <p:spPr>
          <a:xfrm>
            <a:off x="6426200" y="14951"/>
            <a:ext cx="2310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Weekly Factor Pack – 06/05/2024</a:t>
            </a:r>
          </a:p>
        </p:txBody>
      </p:sp>
    </p:spTree>
    <p:extLst>
      <p:ext uri="{BB962C8B-B14F-4D97-AF65-F5344CB8AC3E}">
        <p14:creationId xmlns:p14="http://schemas.microsoft.com/office/powerpoint/2010/main" val="2588092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DFA6E8B8-1CEA-0B16-F75E-9FC05F565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83805"/>
            <a:ext cx="819151" cy="11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C32D04-B134-333E-5729-60EB58855766}"/>
              </a:ext>
            </a:extLst>
          </p:cNvPr>
          <p:cNvCxnSpPr>
            <a:cxnSpLocks/>
          </p:cNvCxnSpPr>
          <p:nvPr/>
        </p:nvCxnSpPr>
        <p:spPr>
          <a:xfrm>
            <a:off x="373380" y="261172"/>
            <a:ext cx="833247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AAF267-D27D-5F30-6ECB-50D47A9B19C0}"/>
              </a:ext>
            </a:extLst>
          </p:cNvPr>
          <p:cNvCxnSpPr>
            <a:cxnSpLocks/>
          </p:cNvCxnSpPr>
          <p:nvPr/>
        </p:nvCxnSpPr>
        <p:spPr>
          <a:xfrm>
            <a:off x="373380" y="695512"/>
            <a:ext cx="833247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9950F1-1D7C-E107-A43A-E14D9B4471ED}"/>
              </a:ext>
            </a:extLst>
          </p:cNvPr>
          <p:cNvSpPr txBox="1"/>
          <p:nvPr/>
        </p:nvSpPr>
        <p:spPr>
          <a:xfrm>
            <a:off x="285750" y="291950"/>
            <a:ext cx="7524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Hedge funds ownership update during Q1’24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BC2E31-66FE-F2B0-10E0-902BE52A1712}"/>
              </a:ext>
            </a:extLst>
          </p:cNvPr>
          <p:cNvCxnSpPr>
            <a:cxnSpLocks/>
          </p:cNvCxnSpPr>
          <p:nvPr/>
        </p:nvCxnSpPr>
        <p:spPr>
          <a:xfrm>
            <a:off x="430530" y="763948"/>
            <a:ext cx="820293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3D9D11-40C9-E78D-32F5-069F8453BB4B}"/>
              </a:ext>
            </a:extLst>
          </p:cNvPr>
          <p:cNvCxnSpPr>
            <a:cxnSpLocks/>
          </p:cNvCxnSpPr>
          <p:nvPr/>
        </p:nvCxnSpPr>
        <p:spPr>
          <a:xfrm>
            <a:off x="381000" y="6380032"/>
            <a:ext cx="8324850" cy="920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72F33B-8366-8CC2-C03F-04F74A9DC9EC}"/>
              </a:ext>
            </a:extLst>
          </p:cNvPr>
          <p:cNvSpPr txBox="1"/>
          <p:nvPr/>
        </p:nvSpPr>
        <p:spPr>
          <a:xfrm>
            <a:off x="296025" y="6368284"/>
            <a:ext cx="8551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Arcana Terminal,13F data</a:t>
            </a:r>
          </a:p>
          <a:p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Ownership represents positions of a stock held as a % of its market cap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BE284-C325-8F8F-C379-B249BACCE39A}"/>
              </a:ext>
            </a:extLst>
          </p:cNvPr>
          <p:cNvSpPr txBox="1"/>
          <p:nvPr/>
        </p:nvSpPr>
        <p:spPr>
          <a:xfrm>
            <a:off x="373380" y="805060"/>
            <a:ext cx="6027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Exhibit 22: HFs trimmed positions on net in the Magnificent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B28D1-C28A-4480-1F16-5B9F36664C42}"/>
              </a:ext>
            </a:extLst>
          </p:cNvPr>
          <p:cNvSpPr txBox="1"/>
          <p:nvPr/>
        </p:nvSpPr>
        <p:spPr>
          <a:xfrm>
            <a:off x="373380" y="3065510"/>
            <a:ext cx="6027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Exhibit 23: 25 MOST and LEAST CONCENTRATED hedge fund holdings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A2DA87-D0AF-275C-6F9E-16AD7C7B4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339" y="3714685"/>
            <a:ext cx="3837966" cy="24478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5D3D39-97EE-125D-EFF2-1DA81B4D7E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2322" y="3711896"/>
            <a:ext cx="3842339" cy="24505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5A44C9-9108-A893-3ECF-4326ED405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524" y="926475"/>
            <a:ext cx="4059936" cy="20707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041461-748D-14BF-375E-F2679929AA7B}"/>
              </a:ext>
            </a:extLst>
          </p:cNvPr>
          <p:cNvSpPr txBox="1"/>
          <p:nvPr/>
        </p:nvSpPr>
        <p:spPr>
          <a:xfrm>
            <a:off x="2064268" y="1567516"/>
            <a:ext cx="23442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While new positions outweighed dropped positions, hedge funds trimmed their overall positions on average in the Magnificent 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F588B-9B02-FC4F-04CB-2397E25BD5DA}"/>
              </a:ext>
            </a:extLst>
          </p:cNvPr>
          <p:cNvSpPr txBox="1"/>
          <p:nvPr/>
        </p:nvSpPr>
        <p:spPr>
          <a:xfrm>
            <a:off x="619339" y="3429000"/>
            <a:ext cx="3837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Incyte, Bath &amp; Body Works, Whirlpool hedge fund hotels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ED379-6743-D4FC-6FBD-1B271B749463}"/>
              </a:ext>
            </a:extLst>
          </p:cNvPr>
          <p:cNvSpPr txBox="1"/>
          <p:nvPr/>
        </p:nvSpPr>
        <p:spPr>
          <a:xfrm>
            <a:off x="4684508" y="3429000"/>
            <a:ext cx="3837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Healthpeak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, Prologis, Accenture less loved</a:t>
            </a:r>
          </a:p>
        </p:txBody>
      </p:sp>
    </p:spTree>
    <p:extLst>
      <p:ext uri="{BB962C8B-B14F-4D97-AF65-F5344CB8AC3E}">
        <p14:creationId xmlns:p14="http://schemas.microsoft.com/office/powerpoint/2010/main" val="1660963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AC032064521C49BAFCEE7CA313291B" ma:contentTypeVersion="16" ma:contentTypeDescription="Create a new document." ma:contentTypeScope="" ma:versionID="309cdc1e00a81917f5d639a3eb8bf5d8">
  <xsd:schema xmlns:xsd="http://www.w3.org/2001/XMLSchema" xmlns:xs="http://www.w3.org/2001/XMLSchema" xmlns:p="http://schemas.microsoft.com/office/2006/metadata/properties" xmlns:ns2="2ed73374-6561-4fc5-8bc1-1f21f2e7d152" xmlns:ns3="58f6d713-7d2b-402f-9d48-3a294c447fcb" targetNamespace="http://schemas.microsoft.com/office/2006/metadata/properties" ma:root="true" ma:fieldsID="2a95843e9388b8877d85c156843164d3" ns2:_="" ns3:_="">
    <xsd:import namespace="2ed73374-6561-4fc5-8bc1-1f21f2e7d152"/>
    <xsd:import namespace="58f6d713-7d2b-402f-9d48-3a294c447f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d73374-6561-4fc5-8bc1-1f21f2e7d1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704717f-65b2-4b22-81d3-df59e2de30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6d713-7d2b-402f-9d48-3a294c447fc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cf90c4bc-266b-405b-b960-bbd335ea5bba}" ma:internalName="TaxCatchAll" ma:showField="CatchAllData" ma:web="58f6d713-7d2b-402f-9d48-3a294c447f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f6d713-7d2b-402f-9d48-3a294c447fcb" xsi:nil="true"/>
    <lcf76f155ced4ddcb4097134ff3c332f xmlns="2ed73374-6561-4fc5-8bc1-1f21f2e7d15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9CCBE03-472C-48E2-9D37-C0A7985EE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A1BD7F-81B6-49C9-98C7-30BC9C120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d73374-6561-4fc5-8bc1-1f21f2e7d152"/>
    <ds:schemaRef ds:uri="58f6d713-7d2b-402f-9d48-3a294c447f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6FE1A9-7BDD-423A-999B-AE178BF4DCBD}">
  <ds:schemaRefs>
    <ds:schemaRef ds:uri="http://schemas.microsoft.com/office/2006/documentManagement/types"/>
    <ds:schemaRef ds:uri="http://www.w3.org/XML/1998/namespace"/>
    <ds:schemaRef ds:uri="http://purl.org/dc/dcmitype/"/>
    <ds:schemaRef ds:uri="58f6d713-7d2b-402f-9d48-3a294c447fcb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ed73374-6561-4fc5-8bc1-1f21f2e7d15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32681</TotalTime>
  <Words>87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 FW</dc:creator>
  <cp:lastModifiedBy>Arcana</cp:lastModifiedBy>
  <cp:revision>336</cp:revision>
  <cp:lastPrinted>2024-06-07T11:08:54Z</cp:lastPrinted>
  <dcterms:created xsi:type="dcterms:W3CDTF">2024-03-30T15:31:42Z</dcterms:created>
  <dcterms:modified xsi:type="dcterms:W3CDTF">2024-06-07T11:26:02Z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0x010100C3AC032064521C49BAFCEE7CA313291B</vt:lpwstr>
  </property>
  <property fmtid="{D5CDD505-2E9C-101B-9397-08002B2CF9AE}" pid="3" name="MediaServiceImageTags">
    <vt:lpwstr/>
  </property>
</Properties>
</file>